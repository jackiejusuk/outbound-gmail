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6c123d2-06c8-b79b-9f7b-5a3035b5af21}">
          <p14:sldIdLst>
            <p14:sldId id="256"/>
            <p14:sldId id="257"/>
          </p14:sldIdLst>
        </p14:section>
        <p14:section name="아키텍처" id="{f3306af0-fb6a-7ec9-db23-38f0c6f5ec20}">
          <p14:sldIdLst>
            <p14:sldId id="258"/>
            <p14:sldId id="259"/>
            <p14:sldId id="260"/>
          </p14:sldIdLst>
        </p14:section>
        <p14:section name="운영" id="{7aa0192b-e553-a1b0-f3a4-d1ce187704b6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메일 발송 시스템 아키텍처 변경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Gmail MCP → Gmail SMTP  |  corp-mail-outreach-v2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2026-10-24 (KST)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변경 요약</a:t>
            </a:r>
            <a:endParaRPr lang="en-US" sz="3200" dirty="0"/>
          </a:p>
        </p:txBody>
      </p:sp>
      <p:sp>
        <p:nvSpPr>
          <p:cNvPr id="3" name="card1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um1"/>
          <p:cNvSpPr txBox="1"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head1"/>
          <p:cNvSpPr txBox="1"/>
          <p:nvPr/>
        </p:nvSpPr>
        <p:spPr>
          <a:xfrm>
            <a:off x="73152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발송 경로 변경</a:t>
            </a:r>
            <a:endParaRPr lang="en-US" sz="1800" dirty="0"/>
          </a:p>
        </p:txBody>
      </p:sp>
      <p:sp>
        <p:nvSpPr>
          <p:cNvPr id="6" name="body1"/>
          <p:cNvSpPr txBox="1"/>
          <p:nvPr/>
        </p:nvSpPr>
        <p:spPr>
          <a:xfrm>
            <a:off x="73152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Gmail MCP의 send_message 대신 Gmail SMTP로 직접 발송합니다.</a:t>
            </a:r>
            <a:endParaRPr lang="en-US" sz="1400" dirty="0"/>
          </a:p>
        </p:txBody>
      </p:sp>
      <p:sp>
        <p:nvSpPr>
          <p:cNvPr id="7" name="card2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num2"/>
          <p:cNvSpPr txBox="1"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head2"/>
          <p:cNvSpPr txBox="1"/>
          <p:nvPr/>
        </p:nvSpPr>
        <p:spPr>
          <a:xfrm>
            <a:off x="356616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모델 호출 제거</a:t>
            </a:r>
            <a:endParaRPr lang="en-US" sz="1800" dirty="0"/>
          </a:p>
        </p:txBody>
      </p:sp>
      <p:sp>
        <p:nvSpPr>
          <p:cNvPr id="10" name="body2"/>
          <p:cNvSpPr txBox="1"/>
          <p:nvPr/>
        </p:nvSpPr>
        <p:spPr>
          <a:xfrm>
            <a:off x="356616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발송 사이클에서 Claude 호출을 빼고 일반 스크립트가 처리합니다.</a:t>
            </a:r>
            <a:endParaRPr lang="en-US" sz="1400" dirty="0"/>
          </a:p>
        </p:txBody>
      </p:sp>
      <p:sp>
        <p:nvSpPr>
          <p:cNvPr id="11" name="card3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num3"/>
          <p:cNvSpPr txBox="1"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head3"/>
          <p:cNvSpPr txBox="1"/>
          <p:nvPr/>
        </p:nvSpPr>
        <p:spPr>
          <a:xfrm>
            <a:off x="6400800" y="2423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비용 구조 개선</a:t>
            </a:r>
            <a:endParaRPr lang="en-US" sz="1800" dirty="0"/>
          </a:p>
        </p:txBody>
      </p:sp>
      <p:sp>
        <p:nvSpPr>
          <p:cNvPr id="14" name="body3"/>
          <p:cNvSpPr txBox="1"/>
          <p:nvPr/>
        </p:nvSpPr>
        <p:spPr>
          <a:xfrm>
            <a:off x="6400800" y="2880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실행 횟수만큼 누적되던 Claude 사용 비용을 줄였습니다.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As-Is: Gmail MCP 구조</a:t>
            </a:r>
            <a:endParaRPr lang="en-US" sz="3200" dirty="0"/>
          </a:p>
        </p:txBody>
      </p:sp>
      <p:sp>
        <p:nvSpPr>
          <p:cNvPr id="3" name="caption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매 발송 사이클마다 Claude가 대상 선정부터 발송·로그까지 수행</a:t>
            </a:r>
            <a:endParaRPr lang="en-US" sz="1400" dirty="0"/>
          </a:p>
        </p:txBody>
      </p:sp>
      <p:sp>
        <p:nvSpPr>
          <p:cNvPr id="4" name="asis0"/>
          <p:cNvSpPr txBox="1"/>
          <p:nvPr/>
        </p:nvSpPr>
        <p:spPr>
          <a:xfrm>
            <a:off x="52578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작업 스케줄러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schtasks</a:t>
            </a:r>
            <a:endParaRPr lang="en-US" sz="1400" dirty="0"/>
          </a:p>
        </p:txBody>
      </p:sp>
      <p:sp>
        <p:nvSpPr>
          <p:cNvPr id="5" name="asisArrow0"/>
          <p:cNvSpPr/>
          <p:nvPr/>
        </p:nvSpPr>
        <p:spPr>
          <a:xfrm>
            <a:off x="188823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asis1"/>
          <p:cNvSpPr txBox="1"/>
          <p:nvPr/>
        </p:nvSpPr>
        <p:spPr>
          <a:xfrm>
            <a:off x="221742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PowerShell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사이클 스크립트</a:t>
            </a:r>
            <a:endParaRPr lang="en-US" sz="1400" dirty="0"/>
          </a:p>
        </p:txBody>
      </p:sp>
      <p:sp>
        <p:nvSpPr>
          <p:cNvPr id="7" name="asisArrow1"/>
          <p:cNvSpPr/>
          <p:nvPr/>
        </p:nvSpPr>
        <p:spPr>
          <a:xfrm>
            <a:off x="357987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asis2"/>
          <p:cNvSpPr txBox="1"/>
          <p:nvPr/>
        </p:nvSpPr>
        <p:spPr>
          <a:xfrm>
            <a:off x="390906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claude -p</a:t>
            </a:r>
            <a:endParaRPr lang="en-US" sz="1400" dirty="0"/>
          </a:p>
        </p:txBody>
      </p:sp>
      <p:sp>
        <p:nvSpPr>
          <p:cNvPr id="9" name="asisArrow2"/>
          <p:cNvSpPr/>
          <p:nvPr/>
        </p:nvSpPr>
        <p:spPr>
          <a:xfrm>
            <a:off x="527151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asis3"/>
          <p:cNvSpPr txBox="1"/>
          <p:nvPr/>
        </p:nvSpPr>
        <p:spPr>
          <a:xfrm>
            <a:off x="560070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Gmail MCP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send_message</a:t>
            </a:r>
            <a:endParaRPr lang="en-US" sz="1400" dirty="0"/>
          </a:p>
        </p:txBody>
      </p:sp>
      <p:sp>
        <p:nvSpPr>
          <p:cNvPr id="11" name="asisArrow3"/>
          <p:cNvSpPr/>
          <p:nvPr/>
        </p:nvSpPr>
        <p:spPr>
          <a:xfrm>
            <a:off x="696315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asis4"/>
          <p:cNvSpPr txBox="1"/>
          <p:nvPr/>
        </p:nvSpPr>
        <p:spPr>
          <a:xfrm>
            <a:off x="729234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Gmail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수신자 메일함</a:t>
            </a:r>
            <a:endParaRPr lang="en-US" sz="1400" dirty="0"/>
          </a:p>
        </p:txBody>
      </p:sp>
      <p:sp>
        <p:nvSpPr>
          <p:cNvPr id="13" name="asisDb"/>
          <p:cNvSpPr txBox="1"/>
          <p:nvPr/>
        </p:nvSpPr>
        <p:spPr>
          <a:xfrm>
            <a:off x="3909060" y="33832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발송 대상 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대상·로그</a:t>
            </a:r>
            <a:endParaRPr lang="en-US" sz="1400" dirty="0"/>
          </a:p>
        </p:txBody>
      </p:sp>
      <p:sp>
        <p:nvSpPr>
          <p:cNvPr id="14" name="asisDbArrow"/>
          <p:cNvSpPr/>
          <p:nvPr/>
        </p:nvSpPr>
        <p:spPr>
          <a:xfrm>
            <a:off x="4572000" y="2779776"/>
            <a:ext cx="0" cy="56692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5" name="asisNote1"/>
          <p:cNvSpPr txBox="1"/>
          <p:nvPr/>
        </p:nvSpPr>
        <p:spPr>
          <a:xfrm>
            <a:off x="525780" y="338328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Claude가 수행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대상 선정 → 발송 → 로그 기록</a:t>
            </a:r>
            <a:endParaRPr lang="en-US" sz="1400" dirty="0"/>
          </a:p>
        </p:txBody>
      </p:sp>
      <p:sp>
        <p:nvSpPr>
          <p:cNvPr id="16" name="asisNote2"/>
          <p:cNvSpPr txBox="1"/>
          <p:nvPr/>
        </p:nvSpPr>
        <p:spPr>
          <a:xfrm>
            <a:off x="5577840" y="3383280"/>
            <a:ext cx="30403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매 사이클 모델 호출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비용이 반복해서 발생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To-Be: Gmail SMTP 구조</a:t>
            </a:r>
            <a:endParaRPr lang="en-US" sz="3200" dirty="0"/>
          </a:p>
        </p:txBody>
      </p:sp>
      <p:sp>
        <p:nvSpPr>
          <p:cNvPr id="3" name="caption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발송 경로에서 Claude를 제외하고 일반 스크립트가 전체 사이클을 수행</a:t>
            </a:r>
            <a:endParaRPr lang="en-US" sz="1400" dirty="0"/>
          </a:p>
        </p:txBody>
      </p:sp>
      <p:sp>
        <p:nvSpPr>
          <p:cNvPr id="4" name="tobe0"/>
          <p:cNvSpPr txBox="1"/>
          <p:nvPr/>
        </p:nvSpPr>
        <p:spPr>
          <a:xfrm>
            <a:off x="52578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작업 스케줄러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schtasks</a:t>
            </a:r>
            <a:endParaRPr lang="en-US" sz="1400" dirty="0"/>
          </a:p>
        </p:txBody>
      </p:sp>
      <p:sp>
        <p:nvSpPr>
          <p:cNvPr id="5" name="tobeArrow0"/>
          <p:cNvSpPr/>
          <p:nvPr/>
        </p:nvSpPr>
        <p:spPr>
          <a:xfrm>
            <a:off x="188823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tobe1"/>
          <p:cNvSpPr txBox="1"/>
          <p:nvPr/>
        </p:nvSpPr>
        <p:spPr>
          <a:xfrm>
            <a:off x="221742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PowerShell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사이클 스크립트</a:t>
            </a:r>
            <a:endParaRPr lang="en-US" sz="1400" dirty="0"/>
          </a:p>
        </p:txBody>
      </p:sp>
      <p:sp>
        <p:nvSpPr>
          <p:cNvPr id="7" name="tobeArrow1"/>
          <p:cNvSpPr/>
          <p:nvPr/>
        </p:nvSpPr>
        <p:spPr>
          <a:xfrm>
            <a:off x="357987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obe2"/>
          <p:cNvSpPr txBox="1"/>
          <p:nvPr/>
        </p:nvSpPr>
        <p:spPr>
          <a:xfrm>
            <a:off x="390906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스크립트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선정·발송·로그</a:t>
            </a:r>
            <a:endParaRPr lang="en-US" sz="1400" dirty="0"/>
          </a:p>
        </p:txBody>
      </p:sp>
      <p:sp>
        <p:nvSpPr>
          <p:cNvPr id="9" name="tobeArrow2"/>
          <p:cNvSpPr/>
          <p:nvPr/>
        </p:nvSpPr>
        <p:spPr>
          <a:xfrm>
            <a:off x="527151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obe3"/>
          <p:cNvSpPr txBox="1"/>
          <p:nvPr/>
        </p:nvSpPr>
        <p:spPr>
          <a:xfrm>
            <a:off x="560070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Gmail SMTP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직접 발송</a:t>
            </a:r>
            <a:endParaRPr lang="en-US" sz="1400" dirty="0"/>
          </a:p>
        </p:txBody>
      </p:sp>
      <p:sp>
        <p:nvSpPr>
          <p:cNvPr id="11" name="tobeArrow3"/>
          <p:cNvSpPr/>
          <p:nvPr/>
        </p:nvSpPr>
        <p:spPr>
          <a:xfrm>
            <a:off x="6963156" y="2240280"/>
            <a:ext cx="29260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obe4"/>
          <p:cNvSpPr txBox="1"/>
          <p:nvPr/>
        </p:nvSpPr>
        <p:spPr>
          <a:xfrm>
            <a:off x="7292340" y="17373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Gmail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수신자 메일함</a:t>
            </a:r>
            <a:endParaRPr lang="en-US" sz="1400" dirty="0"/>
          </a:p>
        </p:txBody>
      </p:sp>
      <p:sp>
        <p:nvSpPr>
          <p:cNvPr id="13" name="tobeDb"/>
          <p:cNvSpPr txBox="1"/>
          <p:nvPr/>
        </p:nvSpPr>
        <p:spPr>
          <a:xfrm>
            <a:off x="3909060" y="3383280"/>
            <a:ext cx="13258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발송 대상 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대상·로그</a:t>
            </a:r>
            <a:endParaRPr lang="en-US" sz="1400" dirty="0"/>
          </a:p>
        </p:txBody>
      </p:sp>
      <p:sp>
        <p:nvSpPr>
          <p:cNvPr id="14" name="tobeDbArrow"/>
          <p:cNvSpPr/>
          <p:nvPr/>
        </p:nvSpPr>
        <p:spPr>
          <a:xfrm>
            <a:off x="4572000" y="2779776"/>
            <a:ext cx="0" cy="566928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5" name="tobeNote1"/>
          <p:cNvSpPr txBox="1"/>
          <p:nvPr/>
        </p:nvSpPr>
        <p:spPr>
          <a:xfrm>
            <a:off x="525780" y="3383280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스크립트가 수행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대상 선정 → 발송 → 로그 기록</a:t>
            </a:r>
            <a:endParaRPr lang="en-US" sz="1400" dirty="0"/>
          </a:p>
        </p:txBody>
      </p:sp>
      <p:sp>
        <p:nvSpPr>
          <p:cNvPr id="16" name="tobeClaude"/>
          <p:cNvSpPr txBox="1"/>
          <p:nvPr/>
        </p:nvSpPr>
        <p:spPr>
          <a:xfrm>
            <a:off x="5577840" y="3383280"/>
            <a:ext cx="30403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개발·유지보수에만 사용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변경 전후 비교</a:t>
            </a:r>
            <a:endParaRPr lang="en-US" sz="3200" dirty="0"/>
          </a:p>
        </p:txBody>
      </p:sp>
      <p:graphicFrame>
        <p:nvGraphicFramePr>
          <p:cNvPr id="6" name="compar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전 (As-Is)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후 (To-Be)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주체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Claude(claude -p)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스크립트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Gmail SMTP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사이클당 모델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발생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횟수만큼 누적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비용 제거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일관성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판단 개입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규칙대로 동일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디버깅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세션·MCP까지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 로그 중심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운영 시 유의사항</a:t>
            </a:r>
            <a:endParaRPr lang="en-US" sz="3200" dirty="0"/>
          </a:p>
        </p:txBody>
      </p:sp>
      <p:sp>
        <p:nvSpPr>
          <p:cNvPr id="3" name="opsCard1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opsNum1"/>
          <p:cNvSpPr txBox="1"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opsText1"/>
          <p:cNvSpPr txBox="1"/>
          <p:nvPr/>
        </p:nvSpPr>
        <p:spPr>
          <a:xfrm>
            <a:off x="1463040" y="1353312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발송 한도·계정 보안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Gmail 일일 발송 한도를 확인하고, 앱 비밀번호는 코드·로그에 노출하지 않습니다.</a:t>
            </a:r>
            <a:endParaRPr lang="en-US" sz="1800" dirty="0"/>
          </a:p>
        </p:txBody>
      </p:sp>
      <p:sp>
        <p:nvSpPr>
          <p:cNvPr id="6" name="opsCard2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opsNum2"/>
          <p:cNvSpPr txBox="1"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opsText2"/>
          <p:cNvSpPr txBox="1"/>
          <p:nvPr/>
        </p:nvSpPr>
        <p:spPr>
          <a:xfrm>
            <a:off x="1463040" y="2450592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수신 동의·수신거부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수신 동의 대상에게만 발송하고 수신거부 안내를 포함합니다(정보통신망법).</a:t>
            </a:r>
            <a:endParaRPr lang="en-US" sz="1800" dirty="0"/>
          </a:p>
        </p:txBody>
      </p:sp>
      <p:sp>
        <p:nvSpPr>
          <p:cNvPr id="9" name="opsCard3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opsNum3"/>
          <p:cNvSpPr txBox="1"/>
          <p:nvPr/>
        </p:nvSpPr>
        <p:spPr>
          <a:xfrm>
            <a:off x="68580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opsText3"/>
          <p:cNvSpPr txBox="1"/>
          <p:nvPr/>
        </p:nvSpPr>
        <p:spPr>
          <a:xfrm>
            <a:off x="1463040" y="3547872"/>
            <a:ext cx="7040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운영 점검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스케줄 작업 실행 상태와 발송 실패 로그를 주기적으로 확인합니다.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반복은 코드로, 판단은 AI로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아키텍처 변경만으로 운영 비용 구조를 바꿨습니다.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corp-mail-outreach-v2  |  2026-10-24 (KST)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il Cost Reduction">
  <a:themeElements>
    <a:clrScheme name="Mail Cost Reduction">
      <a:dk1>
        <a:srgbClr val="1B2438"/>
      </a:dk1>
      <a:lt1>
        <a:srgbClr val="FFFFFF"/>
      </a:lt1>
      <a:dk2>
        <a:srgbClr val="3A4660"/>
      </a:dk2>
      <a:lt2>
        <a:srgbClr val="F1F4F8"/>
      </a:lt2>
      <a:accent1>
        <a:srgbClr val="1F8A7A"/>
      </a:accent1>
      <a:accent2>
        <a:srgbClr val="D2553A"/>
      </a:accent2>
      <a:accent3>
        <a:srgbClr val="F2A33A"/>
      </a:accent3>
      <a:accent4>
        <a:srgbClr val="5B7DB1"/>
      </a:accent4>
      <a:accent5>
        <a:srgbClr val="6B7688"/>
      </a:accent5>
      <a:accent6>
        <a:srgbClr val="7BC4A8"/>
      </a:accent6>
      <a:hlink>
        <a:srgbClr val="1F8A7A"/>
      </a:hlink>
      <a:folHlink>
        <a:srgbClr val="6B7688"/>
      </a:folHlink>
    </a:clrScheme>
    <a:fontScheme name="Mail Cost Reductio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corp-mail-outreach-v2 System Architecture 변경</dc:title>
  <dc:subject>PptxGenJS Presentation</dc:subject>
  <dc:creator>이주석</dc:creator>
  <cp:lastModifiedBy>이주석</cp:lastModifiedBy>
  <cp:revision>1</cp:revision>
  <dcterms:created xsi:type="dcterms:W3CDTF">2026-10-23T22:41:51Z</dcterms:created>
  <dcterms:modified xsi:type="dcterms:W3CDTF">2026-10-23T22:41:51Z</dcterms:modified>
</cp:coreProperties>
</file>